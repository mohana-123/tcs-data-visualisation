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400" b="0" i="0" u="none" strike="noStrike" kern="1200" baseline="0">
                <a:solidFill>
                  <a:srgbClr val="212121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400" b="0" i="0" u="none" strike="noStrike">
                <a:solidFill>
                  <a:srgbClr val="212121"/>
                </a:solidFill>
                <a:latin typeface="Arial" panose="020B0604020202020204"/>
              </a:rPr>
              <a:t>Total Revenue by Region (£M)</a:t>
            </a:r>
            <a:endParaRPr sz="1400" b="0" i="0" u="none" strike="noStrike">
              <a:solidFill>
                <a:srgbClr val="212121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Region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layout/>
              <c:numFmt formatCode="&quot;£&quot;0.00&quot;M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US" sz="1200" b="0" i="0" u="none" strike="noStrike" kern="1200" baseline="0">
                      <a:solidFill>
                        <a:srgbClr val="FFFFFF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&quot;£&quot;0.00&quot;M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US" sz="1200" b="0" i="0" u="none" strike="noStrike" kern="1200" baseline="0">
                      <a:solidFill>
                        <a:srgbClr val="FFFFFF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£&quot;0.0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UK</c:v>
                </c:pt>
                <c:pt idx="1">
                  <c:v>Non-UK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8.72</c:v>
                </c:pt>
                <c:pt idx="1">
                  <c:v>1.52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21212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21212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1200" b="0" i="0" u="none" strike="noStrike" kern="1200" baseline="0">
              <a:solidFill>
                <a:srgbClr val="21212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76d7186-6b57-48e7-9031-26257b39ef82}"/>
      </c:ext>
    </c:extLst>
  </c:chart>
  <c:spPr>
    <a:noFill/>
    <a:ln>
      <a:noFill/>
    </a:ln>
    <a:effectLst/>
  </c:spPr>
  <c:txPr>
    <a:bodyPr/>
    <a:lstStyle/>
    <a:p>
      <a:pPr>
        <a:defRPr lang="en-US" b="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400" b="0" i="0" u="none" strike="noStrike" kern="1200" baseline="0">
                <a:solidFill>
                  <a:srgbClr val="212121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400" b="0" i="0" u="none" strike="noStrike">
                <a:solidFill>
                  <a:srgbClr val="212121"/>
                </a:solidFill>
                <a:latin typeface="Arial" panose="020B0604020202020204"/>
              </a:rPr>
              <a:t>Cumulative Revenue % by Product Rank</a:t>
            </a:r>
            <a:endParaRPr sz="1400" b="0" i="0" u="none" strike="noStrike">
              <a:solidFill>
                <a:srgbClr val="212121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Revenue %</c:v>
                </c:pt>
              </c:strCache>
            </c:strRef>
          </c:tx>
          <c:spPr>
            <a:ln w="38100" cap="flat" cmpd="sng" algn="ctr">
              <a:solidFill>
                <a:srgbClr val="FF6B4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6B4A"/>
              </a:solidFill>
              <a:ln w="9525" cap="flat" cmpd="sng" algn="ctr">
                <a:solidFill>
                  <a:srgbClr val="FF6B4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Top 20</c:v>
                </c:pt>
                <c:pt idx="1">
                  <c:v>Top 40</c:v>
                </c:pt>
                <c:pt idx="2">
                  <c:v>Top 60</c:v>
                </c:pt>
                <c:pt idx="3">
                  <c:v>Top 80</c:v>
                </c:pt>
                <c:pt idx="4">
                  <c:v>Top 100</c:v>
                </c:pt>
                <c:pt idx="5">
                  <c:v>Top 300</c:v>
                </c:pt>
                <c:pt idx="6">
                  <c:v>Top 600</c:v>
                </c:pt>
                <c:pt idx="7">
                  <c:v>Full catalog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</c:v>
                </c:pt>
                <c:pt idx="1">
                  <c:v>17</c:v>
                </c:pt>
                <c:pt idx="2">
                  <c:v>22</c:v>
                </c:pt>
                <c:pt idx="3">
                  <c:v>27</c:v>
                </c:pt>
                <c:pt idx="4">
                  <c:v>33</c:v>
                </c:pt>
                <c:pt idx="5">
                  <c:v>55</c:v>
                </c:pt>
                <c:pt idx="6">
                  <c:v>78</c:v>
                </c:pt>
                <c:pt idx="7">
                  <c:v>100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595959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E5E5E5"/>
              </a:solidFill>
              <a:prstDash val="solid"/>
              <a:round/>
            </a:ln>
          </c:spPr>
        </c:majorGridlines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en-US" sz="1100" b="0" i="0" u="none" strike="noStrike" kern="1200" baseline="0">
                    <a:solidFill>
                      <a:srgbClr val="595959"/>
                    </a:solidFill>
                    <a:latin typeface="Arial" panose="020B0604020202020204"/>
                    <a:ea typeface="+mn-ea"/>
                    <a:cs typeface="+mn-cs"/>
                  </a:defRPr>
                </a:pPr>
                <a:r>
                  <a:rPr sz="1100" b="0" i="0" u="none" strike="noStrike">
                    <a:solidFill>
                      <a:srgbClr val="595959"/>
                    </a:solidFill>
                    <a:latin typeface="Arial" panose="020B0604020202020204"/>
                  </a:rPr>
                  <a:t>Cumulative %</a:t>
                </a:r>
                <a:endParaRPr sz="1100" b="0" i="0" u="none" strike="noStrike">
                  <a:solidFill>
                    <a:srgbClr val="595959"/>
                  </a:solidFill>
                  <a:latin typeface="Arial" panose="020B0604020202020204"/>
                </a:endParaRP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595959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6c8ae15f-4316-4d68-919c-787749a47c3a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400" b="0" i="0" u="none" strike="noStrike" kern="1200" baseline="0">
                <a:solidFill>
                  <a:srgbClr val="212121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400" b="0" i="0" u="none" strike="noStrike">
                <a:solidFill>
                  <a:srgbClr val="212121"/>
                </a:solidFill>
                <a:latin typeface="Arial" panose="020B0604020202020204"/>
              </a:rPr>
              <a:t>Total Revenue by Month (£M)</a:t>
            </a:r>
            <a:endParaRPr sz="1400" b="0" i="0" u="none" strike="noStrike">
              <a:solidFill>
                <a:srgbClr val="212121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Revenue (£M)</c:v>
                </c:pt>
              </c:strCache>
            </c:strRef>
          </c:tx>
          <c:spPr>
            <a:ln w="38100" cap="flat" cmpd="sng" algn="ctr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E2761"/>
              </a:solidFill>
              <a:ln w="9525" cap="flat" cmpd="sng" algn="ctr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Sheet1!$A$2:$A$14</c:f>
              <c:strCache>
                <c:ptCount val="13"/>
                <c:pt idx="0">
                  <c:v>Dec'10</c:v>
                </c:pt>
                <c:pt idx="1">
                  <c:v>Jan'11</c:v>
                </c:pt>
                <c:pt idx="2">
                  <c:v>Feb'11</c:v>
                </c:pt>
                <c:pt idx="3">
                  <c:v>Mar'11</c:v>
                </c:pt>
                <c:pt idx="4">
                  <c:v>Apr'11</c:v>
                </c:pt>
                <c:pt idx="5">
                  <c:v>May'11</c:v>
                </c:pt>
                <c:pt idx="6">
                  <c:v>Jun'11</c:v>
                </c:pt>
                <c:pt idx="7">
                  <c:v>Jul'11</c:v>
                </c:pt>
                <c:pt idx="8">
                  <c:v>Aug'11</c:v>
                </c:pt>
                <c:pt idx="9">
                  <c:v>Sep'11</c:v>
                </c:pt>
                <c:pt idx="10">
                  <c:v>Oct'11</c:v>
                </c:pt>
                <c:pt idx="11">
                  <c:v>Nov'11</c:v>
                </c:pt>
                <c:pt idx="12">
                  <c:v>Dec'11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0.8</c:v>
                </c:pt>
                <c:pt idx="1">
                  <c:v>0.68</c:v>
                </c:pt>
                <c:pt idx="2">
                  <c:v>0.6</c:v>
                </c:pt>
                <c:pt idx="3">
                  <c:v>0.71</c:v>
                </c:pt>
                <c:pt idx="4">
                  <c:v>0.62</c:v>
                </c:pt>
                <c:pt idx="5">
                  <c:v>0.86</c:v>
                </c:pt>
                <c:pt idx="6">
                  <c:v>0.86</c:v>
                </c:pt>
                <c:pt idx="7">
                  <c:v>0.8</c:v>
                </c:pt>
                <c:pt idx="8">
                  <c:v>0.81</c:v>
                </c:pt>
                <c:pt idx="9">
                  <c:v>1.03</c:v>
                </c:pt>
                <c:pt idx="10">
                  <c:v>1.13</c:v>
                </c:pt>
                <c:pt idx="11">
                  <c:v>1.42</c:v>
                </c:pt>
                <c:pt idx="12">
                  <c:v>0.6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27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595959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595959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31d0faa3-a52d-4ea0-a996-706d83e84559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400" b="0" i="0" u="none" strike="noStrike" kern="1200" baseline="0">
                <a:solidFill>
                  <a:srgbClr val="212121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400" b="0" i="0" u="none" strike="noStrike">
                <a:solidFill>
                  <a:srgbClr val="212121"/>
                </a:solidFill>
                <a:latin typeface="Arial" panose="020B0604020202020204"/>
              </a:rPr>
              <a:t>Known Customer Revenue by CustomerKey</a:t>
            </a:r>
            <a:endParaRPr sz="1400" b="0" i="0" u="none" strike="noStrike">
              <a:solidFill>
                <a:srgbClr val="212121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(£)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numRef>
              <c:f>Sheet1!$A$2:$A$10</c:f>
              <c:numCache>
                <c:formatCode>General</c:formatCode>
                <c:ptCount val="9"/>
                <c:pt idx="0">
                  <c:v>18102</c:v>
                </c:pt>
                <c:pt idx="1">
                  <c:v>17450</c:v>
                </c:pt>
                <c:pt idx="2">
                  <c:v>16446</c:v>
                </c:pt>
                <c:pt idx="3">
                  <c:v>14911</c:v>
                </c:pt>
                <c:pt idx="4">
                  <c:v>12415</c:v>
                </c:pt>
                <c:pt idx="5">
                  <c:v>14156</c:v>
                </c:pt>
                <c:pt idx="6">
                  <c:v>17511</c:v>
                </c:pt>
                <c:pt idx="7">
                  <c:v>12346</c:v>
                </c:pt>
                <c:pt idx="8">
                  <c:v>16029</c:v>
                </c:pt>
              </c:numCache>
            </c:num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259657</c:v>
                </c:pt>
                <c:pt idx="1">
                  <c:v>194391</c:v>
                </c:pt>
                <c:pt idx="2">
                  <c:v>168472</c:v>
                </c:pt>
                <c:pt idx="3">
                  <c:v>136162</c:v>
                </c:pt>
                <c:pt idx="4">
                  <c:v>124565</c:v>
                </c:pt>
                <c:pt idx="5">
                  <c:v>116560</c:v>
                </c:pt>
                <c:pt idx="6">
                  <c:v>91062</c:v>
                </c:pt>
                <c:pt idx="7">
                  <c:v>77184</c:v>
                </c:pt>
                <c:pt idx="8">
                  <c:v>72708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595959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 cmpd="sng" algn="ctr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595959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0b831b4f-8d56-46ec-985d-db4a409c1c55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400" b="0" i="0" u="none" strike="noStrike" kern="1200" baseline="0">
                <a:solidFill>
                  <a:srgbClr val="212121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400" b="0" i="0" u="none" strike="noStrike">
                <a:solidFill>
                  <a:srgbClr val="212121"/>
                </a:solidFill>
                <a:latin typeface="Arial" panose="020B0604020202020204"/>
              </a:rPr>
              <a:t>Segment Revenue (£ Lakh)</a:t>
            </a:r>
            <a:endParaRPr sz="1400" b="0" i="0" u="none" strike="noStrike">
              <a:solidFill>
                <a:srgbClr val="212121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Segment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6D2E46"/>
              </a:solidFill>
              <a:effectLst/>
            </c:spPr>
          </c:dPt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en-US" sz="1200" b="0" i="0" u="none" strike="noStrike" kern="1200" baseline="0">
                        <a:solidFill>
                          <a:srgbClr val="FFFFFF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92.82%</a:t>
                    </a:r>
                  </a:p>
                </c:rich>
              </c:tx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US" sz="1200" b="0" i="0" u="none" strike="noStrike" kern="1200" baseline="0">
                      <a:solidFill>
                        <a:srgbClr val="FFFFFF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en-US" sz="1200" b="0" i="0" u="none" strike="noStrike" kern="1200" baseline="0">
                        <a:solidFill>
                          <a:srgbClr val="FFFFFF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7.18%</a:t>
                    </a:r>
                  </a:p>
                </c:rich>
              </c:tx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US" sz="1200" b="0" i="0" u="none" strike="noStrike" kern="1200" baseline="0">
                      <a:solidFill>
                        <a:srgbClr val="FFFFFF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Repeat</c:v>
                </c:pt>
                <c:pt idx="1">
                  <c:v>One-time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81.06</c:v>
                </c:pt>
                <c:pt idx="1">
                  <c:v>6.27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1200" b="0" i="0" u="none" strike="noStrike" kern="1200" baseline="0">
              <a:solidFill>
                <a:srgbClr val="21212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6e883734-db0d-4a19-a805-199fc1404759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400" b="0" i="0" u="none" strike="noStrike" kern="1200" baseline="0">
                <a:solidFill>
                  <a:srgbClr val="212121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400" b="0" i="0" u="none" strike="noStrike">
                <a:solidFill>
                  <a:srgbClr val="212121"/>
                </a:solidFill>
                <a:latin typeface="Arial" panose="020B0604020202020204"/>
              </a:rPr>
              <a:t>Count of GapDays by Bucket</a:t>
            </a:r>
            <a:endParaRPr sz="1400" b="0" i="0" u="none" strike="noStrike">
              <a:solidFill>
                <a:srgbClr val="212121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 of GapDays</c:v>
                </c:pt>
              </c:strCache>
            </c:strRef>
          </c:tx>
          <c:spPr>
            <a:solidFill>
              <a:srgbClr val="1E2761">
                <a:alpha val="100000"/>
              </a:srgbClr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Same-day</c:v>
                </c:pt>
                <c:pt idx="1">
                  <c:v>1-7 days</c:v>
                </c:pt>
                <c:pt idx="2">
                  <c:v>8-14 days</c:v>
                </c:pt>
                <c:pt idx="3">
                  <c:v>15-30 days</c:v>
                </c:pt>
                <c:pt idx="4">
                  <c:v>31-60 days</c:v>
                </c:pt>
                <c:pt idx="5">
                  <c:v>61-90 days</c:v>
                </c:pt>
                <c:pt idx="6">
                  <c:v>90+ days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1620</c:v>
                </c:pt>
                <c:pt idx="1">
                  <c:v>2130</c:v>
                </c:pt>
                <c:pt idx="2">
                  <c:v>1670</c:v>
                </c:pt>
                <c:pt idx="3">
                  <c:v>2760</c:v>
                </c:pt>
                <c:pt idx="4">
                  <c:v>2900</c:v>
                </c:pt>
                <c:pt idx="5">
                  <c:v>1150</c:v>
                </c:pt>
                <c:pt idx="6">
                  <c:v>1740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18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595959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595959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d0fab76f-fd2e-4296-85ee-c49a0ca49fff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300" b="0" i="0" u="none" strike="noStrike" kern="1200" baseline="0">
                <a:solidFill>
                  <a:srgbClr val="212121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Arial" panose="020B0604020202020204"/>
              </a:rPr>
              <a:t>% of Revenue from Repeat Customers, Top 10 Products</a:t>
            </a:r>
            <a:endParaRPr sz="1300" b="0" i="0" u="none" strike="noStrike">
              <a:solidFill>
                <a:srgbClr val="212121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Revenue from Repeat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Paper Craft</c:v>
                </c:pt>
                <c:pt idx="1">
                  <c:v>Rabbit Night Lt</c:v>
                </c:pt>
                <c:pt idx="2">
                  <c:v>Picnic Basket</c:v>
                </c:pt>
                <c:pt idx="3">
                  <c:v>Chilli Lights</c:v>
                </c:pt>
                <c:pt idx="4">
                  <c:v>Jumbo Bag Red</c:v>
                </c:pt>
                <c:pt idx="5">
                  <c:v>White Hanging</c:v>
                </c:pt>
                <c:pt idx="6">
                  <c:v>Assorted Bird</c:v>
                </c:pt>
                <c:pt idx="7">
                  <c:v>Party Bunting</c:v>
                </c:pt>
                <c:pt idx="8">
                  <c:v>Regency 3Tier</c:v>
                </c:pt>
                <c:pt idx="9">
                  <c:v>Medium Ceramic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98.9</c:v>
                </c:pt>
                <c:pt idx="2">
                  <c:v>99.1</c:v>
                </c:pt>
                <c:pt idx="3">
                  <c:v>99.2</c:v>
                </c:pt>
                <c:pt idx="4">
                  <c:v>96.4</c:v>
                </c:pt>
                <c:pt idx="5">
                  <c:v>95.8</c:v>
                </c:pt>
                <c:pt idx="6">
                  <c:v>96.9</c:v>
                </c:pt>
                <c:pt idx="7">
                  <c:v>97.3</c:v>
                </c:pt>
                <c:pt idx="8">
                  <c:v>97.1</c:v>
                </c:pt>
                <c:pt idx="9">
                  <c:v>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2400000" spcFirstLastPara="0" vertOverflow="ellipsis" vert="horz" wrap="square" anchor="ctr" anchorCtr="1"/>
          <a:lstStyle/>
          <a:p>
            <a:pPr>
              <a:defRPr lang="en-US" sz="850" b="0" i="0" u="none" strike="noStrike" kern="1200" baseline="0">
                <a:solidFill>
                  <a:srgbClr val="595959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90"/>
        </c:scaling>
        <c:delete val="0"/>
        <c:axPos val="l"/>
        <c:majorGridlines>
          <c:spPr>
            <a:ln w="12700" cap="flat" cmpd="sng" algn="ctr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595959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5798d595-d171-440d-9e03-dd3947859315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400" b="0" i="0" u="none" strike="noStrike" kern="1200" baseline="0">
                <a:solidFill>
                  <a:srgbClr val="212121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400" b="0" i="0" u="none" strike="noStrike">
                <a:solidFill>
                  <a:srgbClr val="212121"/>
                </a:solidFill>
                <a:latin typeface="Arial" panose="020B0604020202020204"/>
              </a:rPr>
              <a:t>Total Revenue by Country (£, 00K)</a:t>
            </a:r>
            <a:endParaRPr sz="1400" b="0" i="0" u="none" strike="noStrike">
              <a:solidFill>
                <a:srgbClr val="212121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Revenue (£00K)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Netherlands</c:v>
                </c:pt>
                <c:pt idx="1">
                  <c:v>Ireland</c:v>
                </c:pt>
                <c:pt idx="2">
                  <c:v>Germany</c:v>
                </c:pt>
                <c:pt idx="3">
                  <c:v>France</c:v>
                </c:pt>
                <c:pt idx="4">
                  <c:v>Australia</c:v>
                </c:pt>
                <c:pt idx="5">
                  <c:v>Spain</c:v>
                </c:pt>
                <c:pt idx="6">
                  <c:v>Switzerland</c:v>
                </c:pt>
                <c:pt idx="7">
                  <c:v>Japan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2.28</c:v>
                </c:pt>
                <c:pt idx="1">
                  <c:v>2.71</c:v>
                </c:pt>
                <c:pt idx="2">
                  <c:v>2.05</c:v>
                </c:pt>
                <c:pt idx="3">
                  <c:v>1.84</c:v>
                </c:pt>
                <c:pt idx="4">
                  <c:v>1.38</c:v>
                </c:pt>
                <c:pt idx="5">
                  <c:v>0.46</c:v>
                </c:pt>
                <c:pt idx="6">
                  <c:v>0.42</c:v>
                </c:pt>
                <c:pt idx="7">
                  <c:v>0.37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595959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 cmpd="sng" algn="ctr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595959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8c2dadaf-301c-468a-bb11-6f2b1a4e2ec7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572000" cy="4572000"/>
          </a:xfrm>
          <a:prstGeom prst="ellipse">
            <a:avLst/>
          </a:prstGeom>
          <a:solidFill>
            <a:srgbClr val="263079"/>
          </a:solidFill>
        </p:spPr>
      </p:sp>
      <p:sp>
        <p:nvSpPr>
          <p:cNvPr id="3" name="Shape 1"/>
          <p:cNvSpPr/>
          <p:nvPr/>
        </p:nvSpPr>
        <p:spPr>
          <a:xfrm>
            <a:off x="11247120" y="4389120"/>
            <a:ext cx="2743200" cy="2743200"/>
          </a:xfrm>
          <a:prstGeom prst="ellipse">
            <a:avLst/>
          </a:prstGeom>
          <a:solidFill>
            <a:srgbClr val="263079"/>
          </a:solidFill>
        </p:spPr>
      </p:sp>
      <p:sp>
        <p:nvSpPr>
          <p:cNvPr id="4" name="Text 2"/>
          <p:cNvSpPr/>
          <p:nvPr/>
        </p:nvSpPr>
        <p:spPr>
          <a:xfrm>
            <a:off x="822960" y="233172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ONLINE RETAIL ANALYTICS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9601200" cy="1554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Turning 522K Transactions Into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Executive-Ready Insight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UCI Online Retail Dataset  •  Dec 2010 – Dec 2011  •  SQL Server + Power BI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89204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4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CEO / CMO dual-stakeholder reporting build — from raw transactions to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B9C4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 8-page decision-ready dashboard.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080760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Mohana  |  Data Analyst Portfolio 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6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4712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1212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One dataset, two audiences, one governed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7F8FC"/>
          </a:solidFill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194560"/>
            <a:ext cx="502920" cy="50292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6" name="Text 4"/>
          <p:cNvSpPr/>
          <p:nvPr/>
        </p:nvSpPr>
        <p:spPr>
          <a:xfrm>
            <a:off x="777240" y="219456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29260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Data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291840"/>
            <a:ext cx="2926080" cy="2560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522K UK e-commerce transactions across 13 months. Roughly 25% of rows are guest checkouts with no CustomerKey — a real-world messiness problem, not a clean textbook set.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87452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7F8FC"/>
          </a:solidFill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194560"/>
            <a:ext cx="502920" cy="50292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1" name="Text 9"/>
          <p:cNvSpPr/>
          <p:nvPr/>
        </p:nvSpPr>
        <p:spPr>
          <a:xfrm>
            <a:off x="4663440" y="219456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2880360"/>
            <a:ext cx="29260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Ask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63440" y="3291840"/>
            <a:ext cx="2926080" cy="2560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Build reporting two stakeholders actually need: a CEO view (revenue, concentration, growth) and a CMO view (retention, repeat behavior, expansion) — from the same underlying facts.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0" y="187452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7F8FC"/>
          </a:solidFill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49640" y="2194560"/>
            <a:ext cx="502920" cy="50292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6" name="Text 14"/>
          <p:cNvSpPr/>
          <p:nvPr/>
        </p:nvSpPr>
        <p:spPr>
          <a:xfrm>
            <a:off x="8549640" y="219456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549640" y="2880360"/>
            <a:ext cx="29260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Deliverable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549640" y="3291840"/>
            <a:ext cx="2926080" cy="2560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 8-page Power BI report — 4 pages per stakeholder — backed by a SQL Server star schema, published to GitHub as a portfolio artifact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Online Retail Analytics  |  Dec 2010 – Dec 2011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6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4712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1212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SQL is the analyst. Power BI is the storyteller.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most defensible decision in this build: all data cleaning, deduplication, and business logic live in SQL Server. Power BI never fixes data — it visualizes what SQL already proved correct.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CADCFC"/>
          </a:solidFill>
        </p:spPr>
      </p:sp>
      <p:sp>
        <p:nvSpPr>
          <p:cNvPr id="6" name="Text 4"/>
          <p:cNvSpPr/>
          <p:nvPr/>
        </p:nvSpPr>
        <p:spPr>
          <a:xfrm>
            <a:off x="548640" y="2606040"/>
            <a:ext cx="17830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Raw Data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971800"/>
            <a:ext cx="1783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UCI Online Retail</a:t>
            </a:r>
            <a:endParaRPr lang="en-US" sz="95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522K rows, 8 columns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23160" y="2468880"/>
            <a:ext cx="3200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43200" y="24688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</p:spPr>
      </p:sp>
      <p:sp>
        <p:nvSpPr>
          <p:cNvPr id="10" name="Text 8"/>
          <p:cNvSpPr/>
          <p:nvPr/>
        </p:nvSpPr>
        <p:spPr>
          <a:xfrm>
            <a:off x="2834640" y="2606040"/>
            <a:ext cx="17830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SQL Server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834640" y="2971800"/>
            <a:ext cx="1783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D8E0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Clean, dedupe, resolve</a:t>
            </a:r>
            <a:endParaRPr lang="en-US" sz="95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D8E0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guest keys, build star schema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09160" y="2468880"/>
            <a:ext cx="3200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029200" y="24688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CADCFC"/>
          </a:solidFill>
        </p:spPr>
      </p:sp>
      <p:sp>
        <p:nvSpPr>
          <p:cNvPr id="14" name="Text 12"/>
          <p:cNvSpPr/>
          <p:nvPr/>
        </p:nvSpPr>
        <p:spPr>
          <a:xfrm>
            <a:off x="5120640" y="2606040"/>
            <a:ext cx="17830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Star Schema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20640" y="2971800"/>
            <a:ext cx="1783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Fact_sales +</a:t>
            </a:r>
            <a:endParaRPr lang="en-US" sz="95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Dim_Customer / Product / Date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995160" y="2468880"/>
            <a:ext cx="3200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0" y="24688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</p:spPr>
      </p:sp>
      <p:sp>
        <p:nvSpPr>
          <p:cNvPr id="18" name="Text 16"/>
          <p:cNvSpPr/>
          <p:nvPr/>
        </p:nvSpPr>
        <p:spPr>
          <a:xfrm>
            <a:off x="7406640" y="2606040"/>
            <a:ext cx="17830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Power BI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06640" y="2971800"/>
            <a:ext cx="1783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D8E0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Visualization only —</a:t>
            </a:r>
            <a:endParaRPr lang="en-US" sz="95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D8E0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minimal DAX, no re-cleaning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281160" y="2468880"/>
            <a:ext cx="3200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9601200" y="24688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CADCFC"/>
          </a:solidFill>
        </p:spPr>
      </p:sp>
      <p:sp>
        <p:nvSpPr>
          <p:cNvPr id="22" name="Text 20"/>
          <p:cNvSpPr/>
          <p:nvPr/>
        </p:nvSpPr>
        <p:spPr>
          <a:xfrm>
            <a:off x="9692640" y="2606040"/>
            <a:ext cx="17830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8-Page Report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92640" y="2971800"/>
            <a:ext cx="1783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CEO tier + CMO tier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434840"/>
            <a:ext cx="11247120" cy="1691640"/>
          </a:xfrm>
          <a:prstGeom prst="roundRect">
            <a:avLst>
              <a:gd name="adj" fmla="val 4324"/>
            </a:avLst>
          </a:prstGeom>
          <a:solidFill>
            <a:srgbClr val="F7F8FC"/>
          </a:solidFill>
        </p:spPr>
      </p:sp>
      <p:sp>
        <p:nvSpPr>
          <p:cNvPr id="25" name="Text 23"/>
          <p:cNvSpPr/>
          <p:nvPr/>
        </p:nvSpPr>
        <p:spPr>
          <a:xfrm>
            <a:off x="777240" y="4617720"/>
            <a:ext cx="10607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Non-negotiable build principle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4956048"/>
            <a:ext cx="1060704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Fact_sales (522K rows) </a:t>
            </a: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joins to </a:t>
            </a:r>
            <a:r>
              <a:rPr lang="en-US" sz="12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Dim_Customer, Dim_Product, and Dim_Date. </a:t>
            </a: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Guest transactions (CustomerKey = -1, ~25% of rows) stay in CEO revenue totals but are excluded from every customer-behavior measure — repeat rate, reorder gap, segment revenue. That asymmetry is disclosed explicitly whenever both tiers are discussed together.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Online Retail Analytics  |  Dec 2010 – Dec 2011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FFFFFF">
              <a:alpha val="8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822960" y="265176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STAKEHOLDER VIEW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017520"/>
            <a:ext cx="100584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CEO Story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9144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8E0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Revenue concentration, growth, and where the top line actually comes from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6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CEO Q1 — REVENUE CONCENTRATION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4712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1212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85.2% of revenue sits in a single market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600200"/>
          <a:ext cx="694944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6002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</p:spPr>
      </p:sp>
      <p:sp>
        <p:nvSpPr>
          <p:cNvPr id="6" name="Text 3"/>
          <p:cNvSpPr/>
          <p:nvPr/>
        </p:nvSpPr>
        <p:spPr>
          <a:xfrm>
            <a:off x="7726680" y="1737360"/>
            <a:ext cx="39776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85.2%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909560" y="251460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 total revenue is UK-sourced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26680" y="3337560"/>
            <a:ext cx="3977640" cy="2651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£8.72M of £10.24M total revenue comes from the UK. Non-UK markets contribute £1.52M (14.8%) across dozens of countries — none individually significant.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553212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7F8FC"/>
          </a:solidFill>
        </p:spPr>
      </p:sp>
      <p:sp>
        <p:nvSpPr>
          <p:cNvPr id="10" name="Text 7"/>
          <p:cNvSpPr/>
          <p:nvPr/>
        </p:nvSpPr>
        <p:spPr>
          <a:xfrm>
            <a:off x="7909560" y="5623560"/>
            <a:ext cx="36118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Geographic concentration is an expansion opportunity as much as a risk — non-UK markets are largely untapped, not underperforming.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Online Retail Analytics  |  Dec 2010 – Dec 2011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6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CEO Q2 — PRODUCT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4712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1212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catalog is distributed, not concentrated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600200"/>
          <a:ext cx="694944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6002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</p:spPr>
      </p:sp>
      <p:sp>
        <p:nvSpPr>
          <p:cNvPr id="6" name="Text 3"/>
          <p:cNvSpPr/>
          <p:nvPr/>
        </p:nvSpPr>
        <p:spPr>
          <a:xfrm>
            <a:off x="7726680" y="1737360"/>
            <a:ext cx="39776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33%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909560" y="251460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 revenue from top 100 SKUs (2.6% of catalog)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26680" y="3337560"/>
            <a:ext cx="3977640" cy="2651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near-linear cumulative revenue curve across products — no single SKU or narrow cluster dominates. This is the opposite of the customer-side finding: the product mix is broad, and the risk isn't a hit-dependency problem.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553212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7F8FC"/>
          </a:solidFill>
        </p:spPr>
      </p:sp>
      <p:sp>
        <p:nvSpPr>
          <p:cNvPr id="10" name="Text 7"/>
          <p:cNvSpPr/>
          <p:nvPr/>
        </p:nvSpPr>
        <p:spPr>
          <a:xfrm>
            <a:off x="7909560" y="5623560"/>
            <a:ext cx="36118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Reframed from a Pareto/80-20 assumption to "distributed catalog" after the actual curve came back near-linear — the data didn't fit the assumption I started with.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Online Retail Analytics  |  Dec 2010 – Dec 2011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6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CEO Q3 — TREND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4712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1212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Revenue peaked in November 2011 with strong growth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600200"/>
          <a:ext cx="694944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6002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</p:spPr>
      </p:sp>
      <p:sp>
        <p:nvSpPr>
          <p:cNvPr id="6" name="Text 3"/>
          <p:cNvSpPr/>
          <p:nvPr/>
        </p:nvSpPr>
        <p:spPr>
          <a:xfrm>
            <a:off x="7726680" y="1737360"/>
            <a:ext cx="39776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£1.4M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909560" y="251460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peak monthly revenue, Nov 2011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26680" y="3337560"/>
            <a:ext cx="3977640" cy="2651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Revenue climbed steadily from August through November 2011 before the visible December drop — which reflects partial-month data (through Dec 9), not a real decline.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553212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7F8FC"/>
          </a:solidFill>
        </p:spPr>
      </p:sp>
      <p:sp>
        <p:nvSpPr>
          <p:cNvPr id="10" name="Text 7"/>
          <p:cNvSpPr/>
          <p:nvPr/>
        </p:nvSpPr>
        <p:spPr>
          <a:xfrm>
            <a:off x="7909560" y="5623560"/>
            <a:ext cx="36118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 customer, one unusually large order (~£168K) accounts for the bulk of that partial December period — flagged so it isn't misread as trend collapse.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Online Retail Analytics  |  Dec 2010 – Dec 2011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6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CEO Q4 — TOP CUSTOMERS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4712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1212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Top accounts matter, but revenue spans 1,800+ customers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600200"/>
          <a:ext cx="694944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6002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</p:spPr>
      </p:sp>
      <p:sp>
        <p:nvSpPr>
          <p:cNvPr id="6" name="Text 3"/>
          <p:cNvSpPr/>
          <p:nvPr/>
        </p:nvSpPr>
        <p:spPr>
          <a:xfrm>
            <a:off x="7726680" y="1737360"/>
            <a:ext cx="39776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#4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909560" y="251460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rank of a one-off bulk buyer distorting the curve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26680" y="3337560"/>
            <a:ext cx="3977640" cy="2651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CustomerKey 16446 ranks 4th by revenue (£168K) on just 2 invoices — versus 46–72 invoices for the customers ranked around it. It's a single large order, not a loyal high-value account, and it's the same order distorting the December spike on the trend page.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553212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7F8FC"/>
          </a:solidFill>
        </p:spPr>
      </p:sp>
      <p:sp>
        <p:nvSpPr>
          <p:cNvPr id="10" name="Text 7"/>
          <p:cNvSpPr/>
          <p:nvPr/>
        </p:nvSpPr>
        <p:spPr>
          <a:xfrm>
            <a:off x="7909560" y="5623560"/>
            <a:ext cx="36118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Validated by checking invoice count alongside revenue rank — revenue alone would have mislabeled a one-time buyer as a top relationship.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Online Retail Analytics  |  Dec 2010 – Dec 2011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FFFFFF">
              <a:alpha val="8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822960" y="265176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STAKEHOLDER VIEW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017520"/>
            <a:ext cx="100584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CMO Story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9144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8E0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Retention, repeat behavior, reorder timing, and where to grow next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6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CMO Q1 — RETENTION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4712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1212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Repeat customers generate 93% of revenue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600200"/>
          <a:ext cx="694944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6002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</p:spPr>
      </p:sp>
      <p:sp>
        <p:nvSpPr>
          <p:cNvPr id="6" name="Text 3"/>
          <p:cNvSpPr/>
          <p:nvPr/>
        </p:nvSpPr>
        <p:spPr>
          <a:xfrm>
            <a:off x="7726680" y="1737360"/>
            <a:ext cx="39776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93%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909560" y="251460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 revenue from repeat customers (65% of base)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26680" y="3337560"/>
            <a:ext cx="3977640" cy="2651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2,824 repeat customers generate £81.06L against £6.27L from 1,505 one-time buyers. Guest transactions are excluded here — this is known-customer revenue only, which is the correct lens for a retention question.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553212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7F8FC"/>
          </a:solidFill>
        </p:spPr>
      </p:sp>
      <p:sp>
        <p:nvSpPr>
          <p:cNvPr id="10" name="Text 7"/>
          <p:cNvSpPr/>
          <p:nvPr/>
        </p:nvSpPr>
        <p:spPr>
          <a:xfrm>
            <a:off x="7909560" y="5623560"/>
            <a:ext cx="36118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This measure deliberately excludes the ~25% guest-checkout rows that stay in CEO revenue totals — the two tiers use different customer scopes on purpose.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Online Retail Analytics  |  Dec 2010 – Dec 2011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6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CMO Q2 — REORDER BEHAVIOR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4712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1212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typical reorder window is 22 days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600200"/>
          <a:ext cx="694944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6002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</p:spPr>
      </p:sp>
      <p:sp>
        <p:nvSpPr>
          <p:cNvPr id="6" name="Text 3"/>
          <p:cNvSpPr/>
          <p:nvPr/>
        </p:nvSpPr>
        <p:spPr>
          <a:xfrm>
            <a:off x="7726680" y="1737360"/>
            <a:ext cx="39776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52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909560" y="251460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days — the P75 re-engagement threshold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26680" y="3337560"/>
            <a:ext cx="3977640" cy="2651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Across 13,970 reorder events, the median gap between purchases is 22 days. Customers inactive beyond the 52-day (75th percentile) mark are increasingly likely to churn — that's the practical re-engagement window for lifecycle campaigns.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553212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7F8FC"/>
          </a:solidFill>
        </p:spPr>
      </p:sp>
      <p:sp>
        <p:nvSpPr>
          <p:cNvPr id="10" name="Text 7"/>
          <p:cNvSpPr/>
          <p:nvPr/>
        </p:nvSpPr>
        <p:spPr>
          <a:xfrm>
            <a:off x="7909560" y="5623560"/>
            <a:ext cx="36118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Power BI's reference-line feature only works on continuous axes, not this categorical bucket chart — so the 52-day threshold is communicated with bar highlighting instead.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Online Retail Analytics  |  Dec 2010 – Dec 2011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6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CMO Q3 — PRODUCT × RETENTION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4712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1212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Repeat customers dominate revenue across nearly every product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600200"/>
          <a:ext cx="694944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6002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</p:spPr>
      </p:sp>
      <p:sp>
        <p:nvSpPr>
          <p:cNvPr id="6" name="Text 3"/>
          <p:cNvSpPr/>
          <p:nvPr/>
        </p:nvSpPr>
        <p:spPr>
          <a:xfrm>
            <a:off x="7726680" y="1737360"/>
            <a:ext cx="39776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95–100%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909560" y="251460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 top-10 product revenue from repeat customers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26680" y="3337560"/>
            <a:ext cx="3977640" cy="2651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This isn't one loyal category propping up the average — it's structural. PAPER CRAFT and RABBIT NIGHT LIGHT are effectively 100% repeat-driven; even the most one-time-heavy top product still gets 95% of its revenue from repeat purchasers.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553212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7F8FC"/>
          </a:solidFill>
        </p:spPr>
      </p:sp>
      <p:sp>
        <p:nvSpPr>
          <p:cNvPr id="10" name="Text 7"/>
          <p:cNvSpPr/>
          <p:nvPr/>
        </p:nvSpPr>
        <p:spPr>
          <a:xfrm>
            <a:off x="7909560" y="5623560"/>
            <a:ext cx="36118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Cross-referencing product mix against customer segment (rather than looking at either alone) is what surfaced this — a single-axis view would have missed it.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Online Retail Analytics  |  Dec 2010 – Dec 2011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6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CMO Q4 — EXPANSION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4712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1212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Netherlands and Ireland lead revenue but show narrow bases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600200"/>
          <a:ext cx="694944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6002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</p:spPr>
      </p:sp>
      <p:sp>
        <p:nvSpPr>
          <p:cNvPr id="6" name="Text 3"/>
          <p:cNvSpPr/>
          <p:nvPr/>
        </p:nvSpPr>
        <p:spPr>
          <a:xfrm>
            <a:off x="7726680" y="1737360"/>
            <a:ext cx="39776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88–94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909560" y="251460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accounts in Germany / France vs. 9–14 in NL / Ireland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26680" y="3337560"/>
            <a:ext cx="3977640" cy="2651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Netherlands and Ireland post high per-account revenue (14–15 invoices each) but on a thin customer base — retention risk if a handful of accounts churn. Germany and France show broader, more distributed demand with an established repeat pattern already in place.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553212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7F8FC"/>
          </a:solidFill>
        </p:spPr>
      </p:sp>
      <p:sp>
        <p:nvSpPr>
          <p:cNvPr id="10" name="Text 7"/>
          <p:cNvSpPr/>
          <p:nvPr/>
        </p:nvSpPr>
        <p:spPr>
          <a:xfrm>
            <a:off x="7909560" y="5623560"/>
            <a:ext cx="36118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Recommendation: prioritize Germany and France for acquisition spend — the repeat behavior already exists, the customer count doesn't yet.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Online Retail Analytics  |  Dec 2010 – Dec 2011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6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4712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1212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What the CEO and CMO views mean together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7F8FC"/>
          </a:solidFill>
        </p:spPr>
      </p:sp>
      <p:sp>
        <p:nvSpPr>
          <p:cNvPr id="5" name="Shape 3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6" name="Text 4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42519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Expansion beats acquisition-from-scratch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48006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Non-UK revenue is small (14.8%) but Germany/France already show broad, repeat-friendly demand — expand there before chasing new geographies cold.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7F8FC"/>
          </a:solidFill>
        </p:spPr>
      </p:sp>
      <p:sp>
        <p:nvSpPr>
          <p:cNvPr id="10" name="Shape 8"/>
          <p:cNvSpPr/>
          <p:nvPr/>
        </p:nvSpPr>
        <p:spPr>
          <a:xfrm>
            <a:off x="6537960" y="1965960"/>
            <a:ext cx="457200" cy="45720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1" name="Text 9"/>
          <p:cNvSpPr/>
          <p:nvPr/>
        </p:nvSpPr>
        <p:spPr>
          <a:xfrm>
            <a:off x="6537960" y="196596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78040" y="1920240"/>
            <a:ext cx="42519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Protect the reorder window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2560320"/>
            <a:ext cx="48006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22-day median gap, 52-day churn threshold. Lifecycle messaging should target customers approaching day 45–52, not after they've already gone quiet.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411480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7F8FC"/>
          </a:solidFill>
        </p:spPr>
      </p:sp>
      <p:sp>
        <p:nvSpPr>
          <p:cNvPr id="15" name="Shape 13"/>
          <p:cNvSpPr/>
          <p:nvPr/>
        </p:nvSpPr>
        <p:spPr>
          <a:xfrm>
            <a:off x="731520" y="4389120"/>
            <a:ext cx="457200" cy="45720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6" name="Text 14"/>
          <p:cNvSpPr/>
          <p:nvPr/>
        </p:nvSpPr>
        <p:spPr>
          <a:xfrm>
            <a:off x="731520" y="438912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4343400"/>
            <a:ext cx="42519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Don't mistake big orders for loyalty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983480"/>
            <a:ext cx="48006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CustomerKey 16446 and the Dec 2011 spike are the same story: one large order can distort both a customer ranking and a trend line. Always sanity-check revenue rank against invoice count.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7F8FC"/>
          </a:solidFill>
        </p:spPr>
      </p:sp>
      <p:sp>
        <p:nvSpPr>
          <p:cNvPr id="20" name="Shape 18"/>
          <p:cNvSpPr/>
          <p:nvPr/>
        </p:nvSpPr>
        <p:spPr>
          <a:xfrm>
            <a:off x="6537960" y="4389120"/>
            <a:ext cx="457200" cy="45720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21" name="Text 19"/>
          <p:cNvSpPr/>
          <p:nvPr/>
        </p:nvSpPr>
        <p:spPr>
          <a:xfrm>
            <a:off x="6537960" y="438912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78040" y="4343400"/>
            <a:ext cx="42519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catalog isn't the risk — concentration is elsewhere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4983480"/>
            <a:ext cx="48006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121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Product revenue is distributed (33% from top 2.6% of SKUs); customer and geographic revenue are not. Risk management effort belongs on the customer/market side.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Online Retail Analytics  |  Dec 2010 – Dec 2011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9595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63079"/>
          </a:solidFill>
        </p:spPr>
      </p:sp>
      <p:sp>
        <p:nvSpPr>
          <p:cNvPr id="3" name="Text 1"/>
          <p:cNvSpPr/>
          <p:nvPr/>
        </p:nvSpPr>
        <p:spPr>
          <a:xfrm>
            <a:off x="822960" y="2377440"/>
            <a:ext cx="91440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91840"/>
            <a:ext cx="9144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Full dashboard, SQL scripts, and data model are available on GitHub.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794760"/>
            <a:ext cx="9601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9C4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Built end-to-end: SQL Server star schema  →  Power BI (visualization-only)  →  this deck.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9144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Mohana  |  Data Analyst Portfolio Project  |  GitHub: [add repo link]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7426</Words>
  <Application>WPS Presentation</Application>
  <PresentationFormat>On-screen Show (16:9)</PresentationFormat>
  <Paragraphs>264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8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Cambria</vt:lpstr>
      <vt:lpstr>Cambria</vt:lpstr>
      <vt:lpstr>Arial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Vicky The king</cp:lastModifiedBy>
  <cp:revision>5</cp:revision>
  <dcterms:created xsi:type="dcterms:W3CDTF">2026-07-28T11:40:00Z</dcterms:created>
  <dcterms:modified xsi:type="dcterms:W3CDTF">2026-07-29T13:25:45Z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2E44EF1861C847468B79A0FE94FF53B9_12</vt:lpwstr>
  </property>
  <property fmtid="{D5CDD505-2E9C-101B-9397-08002B2CF9AE}" pid="3" name="KSOProductBuildVer">
    <vt:lpwstr>1033-12.1.0.27458</vt:lpwstr>
  </property>
</Properties>
</file>